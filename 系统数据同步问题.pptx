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Arial"/>
              </a:defRPr>
            </a:pPr>
            <a:r>
              <a:t>系统数据同步问题分析与解决方案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54864" cy="2560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8288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E2761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280160" cy="594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B360</a:t>
            </a:r>
          </a:p>
          <a:p>
            <a:r>
              <a:t>中央预定系统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83080" y="1298448"/>
            <a:ext cx="320040" cy="2286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48840" y="1143000"/>
            <a:ext cx="914400" cy="59436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2761"/>
                </a:solidFill>
                <a:latin typeface="Arial"/>
              </a:defRPr>
            </a:pPr>
            <a:r>
              <a:t>OXI接口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1298448"/>
            <a:ext cx="320040" cy="2286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143000"/>
            <a:ext cx="1280160" cy="5943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PMS</a:t>
            </a:r>
          </a:p>
          <a:p>
            <a:r>
              <a:t>酒店管理系统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4297680" cy="320040"/>
          </a:xfrm>
          <a:prstGeom prst="rect">
            <a:avLst/>
          </a:prstGeom>
          <a:solidFill>
            <a:srgbClr val="F0F3F7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C3E50"/>
                </a:solidFill>
                <a:latin typeface="Arial"/>
              </a:defRPr>
            </a:pPr>
            <a:r>
              <a:t>同步机制: 异步消息队列 + 全量覆盖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54864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2286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F39C12"/>
                </a:solidFill>
                <a:latin typeface="Arial"/>
              </a:defRPr>
            </a:pPr>
            <a:r>
              <a:t>业务需求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4297680" cy="685800"/>
          </a:xfrm>
          <a:prstGeom prst="rect">
            <a:avLst/>
          </a:prstGeom>
          <a:solidFill>
            <a:srgbClr val="FFFAF0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/>
          <a:lstStyle/>
          <a:p>
            <a:pPr algn="l">
              <a:defRPr sz="900">
                <a:solidFill>
                  <a:srgbClr val="2C3E50"/>
                </a:solidFill>
                <a:latin typeface="Arial"/>
              </a:defRPr>
            </a:pPr>
            <a:r>
              <a:t>当客人的会员SLC (Welcome Amenity) 满足条件时,</a:t>
            </a:r>
          </a:p>
          <a:p>
            <a:r>
              <a:t>自动往订单添加special code代表此次入住给客人的权益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777240"/>
            <a:ext cx="54864" cy="2560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777240"/>
            <a:ext cx="2286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F96167"/>
                </a:solidFill>
                <a:latin typeface="Arial"/>
              </a:defRPr>
            </a:pPr>
            <a:r>
              <a:t>核心问题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143000"/>
            <a:ext cx="3840480" cy="1737360"/>
          </a:xfrm>
          <a:prstGeom prst="rect">
            <a:avLst/>
          </a:prstGeom>
          <a:solidFill>
            <a:srgbClr val="FFF5F5"/>
          </a:solidFill>
          <a:ln w="127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23444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defRPr sz="900">
                <a:solidFill>
                  <a:srgbClr val="2C3E50"/>
                </a:solidFill>
                <a:latin typeface="Arial"/>
              </a:defRPr>
            </a:pPr>
            <a:r>
              <a:t>❌ B360处理SLC逻辑,订单双向同步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900">
                <a:solidFill>
                  <a:srgbClr val="2C3E50"/>
                </a:solidFill>
                <a:latin typeface="Arial"/>
              </a:defRPr>
            </a:pPr>
            <a:r>
              <a:t>❌ PMS FO修改订单时,B360推送更新可能失败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900">
                <a:solidFill>
                  <a:srgbClr val="2C3E50"/>
                </a:solidFill>
                <a:latin typeface="Arial"/>
              </a:defRPr>
            </a:pPr>
            <a:r>
              <a:t>❌ 全量覆盖导致PMS新修改内容丢失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900">
                <a:solidFill>
                  <a:srgbClr val="2C3E50"/>
                </a:solidFill>
                <a:latin typeface="Arial"/>
              </a:defRPr>
            </a:pPr>
            <a:r>
              <a:t>    例如:重要的Comments记录被覆盖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54864" cy="25603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20440"/>
            <a:ext cx="2286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F96167"/>
                </a:solidFill>
                <a:latin typeface="Arial"/>
              </a:defRPr>
            </a:pPr>
            <a:r>
              <a:t>问题流程示意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86200"/>
            <a:ext cx="1828800" cy="502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0800"/>
          <a:lstStyle/>
          <a:p>
            <a:pPr algn="l">
              <a:defRPr sz="900">
                <a:solidFill>
                  <a:srgbClr val="2C3E50"/>
                </a:solidFill>
                <a:latin typeface="Arial"/>
              </a:defRPr>
            </a:pPr>
            <a:r>
              <a:t>① PMS FO修改订单</a:t>
            </a:r>
          </a:p>
          <a:p>
            <a:r>
              <a:t>    (添加Comments)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331720" y="4005072"/>
            <a:ext cx="228600" cy="201168"/>
          </a:xfrm>
          <a:prstGeom prst="rightArrow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06040" y="3886200"/>
            <a:ext cx="1828800" cy="5029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0800"/>
          <a:lstStyle/>
          <a:p>
            <a:pPr algn="l">
              <a:defRPr sz="900">
                <a:solidFill>
                  <a:srgbClr val="2C3E50"/>
                </a:solidFill>
                <a:latin typeface="Arial"/>
              </a:defRPr>
            </a:pPr>
            <a:r>
              <a:t>② 同步至B360</a:t>
            </a:r>
          </a:p>
          <a:p>
            <a:r>
              <a:t>    触发SLC逻辑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480560" y="4005072"/>
            <a:ext cx="228600" cy="201168"/>
          </a:xfrm>
          <a:prstGeom prst="rightArrow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54880" y="3886200"/>
            <a:ext cx="1828800" cy="50292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50800"/>
          <a:lstStyle/>
          <a:p>
            <a:pPr algn="l">
              <a:defRPr sz="900" b="1">
                <a:solidFill>
                  <a:srgbClr val="F96167"/>
                </a:solidFill>
                <a:latin typeface="Arial"/>
              </a:defRPr>
            </a:pPr>
            <a:r>
              <a:t>③ B360推回更新</a:t>
            </a:r>
          </a:p>
          <a:p>
            <a:r>
              <a:t>    (删除special code)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629400" y="4005072"/>
            <a:ext cx="228600" cy="201168"/>
          </a:xfrm>
          <a:prstGeom prst="rightArrow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3886200"/>
            <a:ext cx="1783080" cy="5029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❌ 更新失败</a:t>
            </a:r>
          </a:p>
          <a:p>
            <a:r>
              <a:t>或覆盖新数据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26280"/>
            <a:ext cx="54864" cy="25603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526280"/>
            <a:ext cx="22860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2C5F2D"/>
                </a:solidFill>
                <a:latin typeface="Arial"/>
              </a:defRPr>
            </a:pPr>
            <a:r>
              <a:t>建议解决方案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8229600" cy="502920"/>
          </a:xfrm>
          <a:prstGeom prst="rect">
            <a:avLst/>
          </a:prstGeom>
          <a:solidFill>
            <a:srgbClr val="E8F5E9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  <a:defRPr sz="1000" b="1">
                <a:solidFill>
                  <a:srgbClr val="2C3E50"/>
                </a:solidFill>
                <a:latin typeface="Arial"/>
              </a:defRPr>
            </a:pPr>
            <a:r>
              <a:t>✓ 将SLC权益逻辑迁移至PMS端处理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→ PMS本地监控订单变更,自动决定special code更新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→ 所有变更由PMS统一发起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→ B360仅作为数据接收方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→ 避免双向覆盖冲突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