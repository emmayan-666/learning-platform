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1E2761"/>
                </a:solidFill>
                <a:latin typeface="Arial"/>
              </a:defRPr>
            </a:pPr>
            <a:r>
              <a:t>System Data Synchronization Issue Analysis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54864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8288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E2761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280160" cy="594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B360</a:t>
            </a:r>
          </a:p>
          <a:p>
            <a:r>
              <a:t>Central Reservation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83080" y="1298448"/>
            <a:ext cx="320040" cy="2286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48840" y="1143000"/>
            <a:ext cx="914400" cy="59436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761"/>
                </a:solidFill>
                <a:latin typeface="Arial"/>
              </a:defRPr>
            </a:pPr>
            <a:r>
              <a:t>OXI</a:t>
            </a:r>
          </a:p>
          <a:p>
            <a:r>
              <a:t>Interface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1298448"/>
            <a:ext cx="320040" cy="2286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143000"/>
            <a:ext cx="1280160" cy="594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PMS</a:t>
            </a:r>
          </a:p>
          <a:p>
            <a:r>
              <a:t>Property Mgmt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4297680" cy="320040"/>
          </a:xfrm>
          <a:prstGeom prst="rect">
            <a:avLst/>
          </a:prstGeom>
          <a:solidFill>
            <a:srgbClr val="F0F3F7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E50"/>
                </a:solidFill>
                <a:latin typeface="Arial"/>
              </a:defRPr>
            </a:pPr>
            <a:r>
              <a:t>Sync Mechanism: Async Message Queue + Full Override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4864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2286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F39C12"/>
                </a:solidFill>
                <a:latin typeface="Arial"/>
              </a:defRPr>
            </a:pPr>
            <a:r>
              <a:t>Business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4297680" cy="685800"/>
          </a:xfrm>
          <a:prstGeom prst="rect">
            <a:avLst/>
          </a:prstGeom>
          <a:solidFill>
            <a:srgbClr val="FFFAF0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l">
              <a:defRPr sz="900">
                <a:solidFill>
                  <a:srgbClr val="2C3E50"/>
                </a:solidFill>
                <a:latin typeface="Arial"/>
              </a:defRPr>
            </a:pPr>
            <a:r>
              <a:t>When member's SLC (Welcome Amenity) meets criteria,</a:t>
            </a:r>
          </a:p>
          <a:p>
            <a:r>
              <a:t>automatically add special code to reservation for guest benefits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777240"/>
            <a:ext cx="54864" cy="2560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777240"/>
            <a:ext cx="2286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F96167"/>
                </a:solidFill>
                <a:latin typeface="Arial"/>
              </a:defRPr>
            </a:pPr>
            <a:r>
              <a:t>Core Issues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143000"/>
            <a:ext cx="3840480" cy="1737360"/>
          </a:xfrm>
          <a:prstGeom prst="rect">
            <a:avLst/>
          </a:prstGeom>
          <a:solidFill>
            <a:srgbClr val="FFF5F5"/>
          </a:solidFill>
          <a:ln w="127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23444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900">
                <a:solidFill>
                  <a:srgbClr val="2C3E50"/>
                </a:solidFill>
                <a:latin typeface="Arial"/>
              </a:defRPr>
            </a:pPr>
            <a:r>
              <a:t>❌ B360 handles SLC logic, causing bi-directional sync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900">
                <a:solidFill>
                  <a:srgbClr val="2C3E50"/>
                </a:solidFill>
                <a:latin typeface="Arial"/>
              </a:defRPr>
            </a:pPr>
            <a:r>
              <a:t>❌ When PMS FO modifies reservation, B360 push may fail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900">
                <a:solidFill>
                  <a:srgbClr val="2C3E50"/>
                </a:solidFill>
                <a:latin typeface="Arial"/>
              </a:defRPr>
            </a:pPr>
            <a:r>
              <a:t>❌ Full override causes PMS new changes to be lost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900">
                <a:solidFill>
                  <a:srgbClr val="2C3E50"/>
                </a:solidFill>
                <a:latin typeface="Arial"/>
              </a:defRPr>
            </a:pPr>
            <a:r>
              <a:t>    Example: Important Comments records overwritten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54864" cy="2560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20440"/>
            <a:ext cx="2286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F96167"/>
                </a:solidFill>
                <a:latin typeface="Arial"/>
              </a:defRPr>
            </a:pPr>
            <a:r>
              <a:t>Issue Flow Diagram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86200"/>
            <a:ext cx="1828800" cy="502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0800"/>
          <a:lstStyle/>
          <a:p>
            <a:pPr algn="l">
              <a:defRPr sz="900">
                <a:solidFill>
                  <a:srgbClr val="2C3E50"/>
                </a:solidFill>
                <a:latin typeface="Arial"/>
              </a:defRPr>
            </a:pPr>
            <a:r>
              <a:t>① PMS FO modifies</a:t>
            </a:r>
          </a:p>
          <a:p>
            <a:r>
              <a:t>    reservation (Comments)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331720" y="4005072"/>
            <a:ext cx="228600" cy="201168"/>
          </a:xfrm>
          <a:prstGeom prst="rightArrow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06040" y="3886200"/>
            <a:ext cx="1828800" cy="502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0800"/>
          <a:lstStyle/>
          <a:p>
            <a:pPr algn="l">
              <a:defRPr sz="900">
                <a:solidFill>
                  <a:srgbClr val="2C3E50"/>
                </a:solidFill>
                <a:latin typeface="Arial"/>
              </a:defRPr>
            </a:pPr>
            <a:r>
              <a:t>② Sync to B360</a:t>
            </a:r>
          </a:p>
          <a:p>
            <a:r>
              <a:t>    triggers SLC logic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480560" y="4005072"/>
            <a:ext cx="228600" cy="201168"/>
          </a:xfrm>
          <a:prstGeom prst="rightArrow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54880" y="3886200"/>
            <a:ext cx="1828800" cy="50292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0800"/>
          <a:lstStyle/>
          <a:p>
            <a:pPr algn="l">
              <a:defRPr sz="900" b="1">
                <a:solidFill>
                  <a:srgbClr val="F96167"/>
                </a:solidFill>
                <a:latin typeface="Arial"/>
              </a:defRPr>
            </a:pPr>
            <a:r>
              <a:t>③ B360 pushes back</a:t>
            </a:r>
          </a:p>
          <a:p>
            <a:r>
              <a:t>    (delete special code)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629400" y="4005072"/>
            <a:ext cx="228600" cy="201168"/>
          </a:xfrm>
          <a:prstGeom prst="rightArrow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3886200"/>
            <a:ext cx="1783080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❌ Update fails</a:t>
            </a:r>
          </a:p>
          <a:p>
            <a:r>
              <a:t>or data overwritten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26280"/>
            <a:ext cx="54864" cy="25603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526280"/>
            <a:ext cx="2286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2C5F2D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8229600" cy="502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  <a:defRPr sz="1000" b="1">
                <a:solidFill>
                  <a:srgbClr val="2C3E50"/>
                </a:solidFill>
                <a:latin typeface="Arial"/>
              </a:defRPr>
            </a:pPr>
            <a:r>
              <a:t>✓ Migrate SLC logic to PMS side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→ PMS monitors reservation changes locally, decides special code updates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→ All changes initiated by PMS only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→ B360 acts as data receiver only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→ Avoid bi-directional override conflicts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